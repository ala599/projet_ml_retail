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>
    <p:embeddedFont>
      <p:font typeface="Crimson Pro Semi Bold"/>
      <p:regular r:id="rId19"/>
    </p:embeddedFont>
    <p:embeddedFont>
      <p:font typeface="Crimson Pro Semi Bold"/>
      <p:regular r:id="rId20"/>
    </p:embeddedFont>
    <p:embeddedFont>
      <p:font typeface="Crimson Pro Semi Bold"/>
      <p:regular r:id="rId21"/>
    </p:embeddedFont>
    <p:embeddedFont>
      <p:font typeface="Crimson Pro Semi Bold"/>
      <p:regular r:id="rId22"/>
    </p:embeddedFont>
    <p:embeddedFont>
      <p:font typeface="Heebo"/>
      <p:regular r:id="rId23"/>
    </p:embeddedFont>
    <p:embeddedFont>
      <p:font typeface="Heeb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7446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Analyse Comportementale Clientèle — E-commerce de Cadeaux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61602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Projet Machine Learning GI2 — Chaîne complète : Exploration → Préparation → Modélisation → Évaluation → Déploiement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3229124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Auteur : AlaBendaoued • Année universitaire : 2025-2026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361540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Contexte : Plateforme e‑commerce de cadeaux souhaitant personnaliser le marketing, réduire le churn et optimiser le CA.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3667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Contexte &amp; Objectifs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192262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133402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Enjeux métier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1640532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1) Personnalisation marketing • 2) Réduction du churn • 3) Optimisation du chiffre d'affaires.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2377678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637877" y="251943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Données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7877" y="2825948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52 features issues de transactions réelles, volontairement imparfaites pour couvrir toute la chaîne.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563094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37048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Objectifs pédagogiques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4011364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EDA, préparation, transformation (ACP), clustering/classification/régression, évaluation, déploiement Flask.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Architecture du projet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16360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Structure professionnelle du dépôt et bonnes pratiques (env virtuel, Git/GitHub).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62113"/>
            <a:ext cx="5177582" cy="29339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24339" y="179479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Arborescence clé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024339" y="2158008"/>
            <a:ext cx="262823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projet_ml_retail/ → data/raw, data/processed, data/train_test, notebooks, src (preprocessing.py, train_model.py, predict.py, utils.py), models, app (Flask), reports, requirements.txt, README.md, .gitignore.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24339" y="3660651"/>
            <a:ext cx="21232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Versioning &amp; environnement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24339" y="4023866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env virtuel + requirements.txt • Git/GitHub pour traçabilité et revues.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7986"/>
            <a:ext cx="457177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Exploration des données (EDA)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74490"/>
            <a:ext cx="753740" cy="7537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7038" y="1874490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Caractéristiques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27038" y="2181002"/>
            <a:ext cx="166821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52 features : 34 numériques, 18 catégorielles.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874490"/>
            <a:ext cx="753740" cy="7537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3353" y="1874490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Problèmes qualité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03353" y="2181002"/>
            <a:ext cx="166821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Missing: Age (~30%), SupportTickets, Satisfaction (5–8%). Outliers: codes erreur (-1, 99, 999). Formats dates inconsistants. Feature constante: NewsletterSubscribed.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874490"/>
            <a:ext cx="753740" cy="7537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1874490"/>
            <a:ext cx="16682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Visualisations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181002"/>
            <a:ext cx="166821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Heatmap corrélation • distributions • IQR pour outliers • VIF pour multicolinéarité.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5145" y="246757"/>
            <a:ext cx="3258741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Prétraitement — La pièce maîtresse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1515145" y="634380"/>
            <a:ext cx="6113711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Résumé clair des étapes avec règles anti‑data‑leakage (split avant transformation).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1515145" y="944761"/>
            <a:ext cx="2000994" cy="1431727"/>
          </a:xfrm>
          <a:prstGeom prst="roundRect">
            <a:avLst>
              <a:gd name="adj" fmla="val 3193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15145" y="935236"/>
            <a:ext cx="2000994" cy="38100"/>
          </a:xfrm>
          <a:prstGeom prst="roundRect">
            <a:avLst>
              <a:gd name="adj" fmla="val 34884"/>
            </a:avLst>
          </a:prstGeom>
          <a:solidFill>
            <a:srgbClr val="2150FE"/>
          </a:solidFill>
          <a:ln/>
        </p:spPr>
      </p:sp>
      <p:sp>
        <p:nvSpPr>
          <p:cNvPr id="6" name="Shape 4"/>
          <p:cNvSpPr/>
          <p:nvPr/>
        </p:nvSpPr>
        <p:spPr>
          <a:xfrm>
            <a:off x="2382738" y="811857"/>
            <a:ext cx="265807" cy="265807"/>
          </a:xfrm>
          <a:prstGeom prst="roundRect">
            <a:avLst>
              <a:gd name="adj" fmla="val 215006"/>
            </a:avLst>
          </a:prstGeom>
          <a:solidFill>
            <a:srgbClr val="2150FE"/>
          </a:solidFill>
          <a:ln/>
        </p:spPr>
      </p:sp>
      <p:sp>
        <p:nvSpPr>
          <p:cNvPr id="7" name="Text 5"/>
          <p:cNvSpPr/>
          <p:nvPr/>
        </p:nvSpPr>
        <p:spPr>
          <a:xfrm>
            <a:off x="2462510" y="878309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13222" y="1166217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1. Parsing des dates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13222" y="1337816"/>
            <a:ext cx="1804839" cy="345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 </a:t>
            </a:r>
            <a:pPr algn="l" indent="0" marL="0">
              <a:lnSpc>
                <a:spcPts val="900"/>
              </a:lnSpc>
              <a:buNone/>
            </a:pPr>
            <a:r>
              <a:rPr lang="en-US" sz="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parsing de dates</a:t>
            </a:r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consiste à prendre des données textuelles mal formatées et les transformer en dates exploitables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3571503" y="944761"/>
            <a:ext cx="2000994" cy="1431727"/>
          </a:xfrm>
          <a:prstGeom prst="roundRect">
            <a:avLst>
              <a:gd name="adj" fmla="val 3193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71503" y="935236"/>
            <a:ext cx="2000994" cy="38100"/>
          </a:xfrm>
          <a:prstGeom prst="roundRect">
            <a:avLst>
              <a:gd name="adj" fmla="val 34884"/>
            </a:avLst>
          </a:prstGeom>
          <a:solidFill>
            <a:srgbClr val="2150FE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9096" y="811857"/>
            <a:ext cx="265807" cy="265807"/>
          </a:xfrm>
          <a:prstGeom prst="roundRect">
            <a:avLst>
              <a:gd name="adj" fmla="val 215006"/>
            </a:avLst>
          </a:prstGeom>
          <a:solidFill>
            <a:srgbClr val="2150FE"/>
          </a:solidFill>
          <a:ln/>
        </p:spPr>
      </p:sp>
      <p:sp>
        <p:nvSpPr>
          <p:cNvPr id="13" name="Text 11"/>
          <p:cNvSpPr/>
          <p:nvPr/>
        </p:nvSpPr>
        <p:spPr>
          <a:xfrm>
            <a:off x="4518868" y="878309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69581" y="1166217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2. Feature engineering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69581" y="1337816"/>
            <a:ext cx="1804839" cy="94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transforme les données brutes en insights actionnables : par exemple, </a:t>
            </a:r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MonetaryPerDay</a:t>
            </a:r>
            <a:pPr algn="l" indent="0" marL="0">
              <a:lnSpc>
                <a:spcPts val="900"/>
              </a:lnSpc>
              <a:buNone/>
            </a:pPr>
            <a:r>
              <a:rPr lang="en-US" sz="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révèle qu'un client dépensant 500€ mais inactif depuis 200 jours est moins valuable qu'un client dépensant 100€ activement — information impossible à détecter avec </a:t>
            </a:r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MonetaryTotal</a:t>
            </a:r>
            <a:pPr algn="l" indent="0" marL="0">
              <a:lnSpc>
                <a:spcPts val="900"/>
              </a:lnSpc>
              <a:buNone/>
            </a:pPr>
            <a:r>
              <a:rPr lang="en-US" sz="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seul.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627861" y="944761"/>
            <a:ext cx="2000994" cy="1431727"/>
          </a:xfrm>
          <a:prstGeom prst="roundRect">
            <a:avLst>
              <a:gd name="adj" fmla="val 3193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27861" y="935236"/>
            <a:ext cx="2000994" cy="38100"/>
          </a:xfrm>
          <a:prstGeom prst="roundRect">
            <a:avLst>
              <a:gd name="adj" fmla="val 34884"/>
            </a:avLst>
          </a:prstGeom>
          <a:solidFill>
            <a:srgbClr val="2150F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95455" y="811857"/>
            <a:ext cx="265807" cy="265807"/>
          </a:xfrm>
          <a:prstGeom prst="roundRect">
            <a:avLst>
              <a:gd name="adj" fmla="val 215006"/>
            </a:avLst>
          </a:prstGeom>
          <a:solidFill>
            <a:srgbClr val="2150FE"/>
          </a:solidFill>
          <a:ln/>
        </p:spPr>
      </p:sp>
      <p:sp>
        <p:nvSpPr>
          <p:cNvPr id="19" name="Text 17"/>
          <p:cNvSpPr/>
          <p:nvPr/>
        </p:nvSpPr>
        <p:spPr>
          <a:xfrm>
            <a:off x="6575227" y="878309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25939" y="1166217"/>
            <a:ext cx="1440879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3. Suppression features à risque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725939" y="1337816"/>
            <a:ext cx="1804839" cy="69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Retirées : ChurnRiskCategory, ChurnRisk, CustomerType 'Perdu', AccountStatus 'Closed', SatisfactionScore, LoyaltyLevel, AgeCategory, WeekendPreference, CustomerID, LastLoginIP, NewsletterSubscribed.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1515145" y="2564755"/>
            <a:ext cx="2000994" cy="1537395"/>
          </a:xfrm>
          <a:prstGeom prst="roundRect">
            <a:avLst>
              <a:gd name="adj" fmla="val 2974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15145" y="2555230"/>
            <a:ext cx="2000994" cy="38100"/>
          </a:xfrm>
          <a:prstGeom prst="roundRect">
            <a:avLst>
              <a:gd name="adj" fmla="val 34884"/>
            </a:avLst>
          </a:prstGeom>
          <a:solidFill>
            <a:srgbClr val="2150FE"/>
          </a:solidFill>
          <a:ln/>
        </p:spPr>
      </p:sp>
      <p:sp>
        <p:nvSpPr>
          <p:cNvPr id="24" name="Shape 22"/>
          <p:cNvSpPr/>
          <p:nvPr/>
        </p:nvSpPr>
        <p:spPr>
          <a:xfrm>
            <a:off x="2382738" y="2431852"/>
            <a:ext cx="265807" cy="265807"/>
          </a:xfrm>
          <a:prstGeom prst="roundRect">
            <a:avLst>
              <a:gd name="adj" fmla="val 215006"/>
            </a:avLst>
          </a:prstGeom>
          <a:solidFill>
            <a:srgbClr val="2150FE"/>
          </a:solidFill>
          <a:ln/>
        </p:spPr>
      </p:sp>
      <p:sp>
        <p:nvSpPr>
          <p:cNvPr id="25" name="Text 23"/>
          <p:cNvSpPr/>
          <p:nvPr/>
        </p:nvSpPr>
        <p:spPr>
          <a:xfrm>
            <a:off x="2462510" y="2498303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13222" y="2786211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4. Nettoyage outliers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13222" y="2957810"/>
            <a:ext cx="1804839" cy="345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SupportTickets (-1,999) → NaN; Satisfaction hors [1–5]/99 → NaN; Age hors [18–100] → NaN; correction types.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571503" y="2564755"/>
            <a:ext cx="2000994" cy="1537395"/>
          </a:xfrm>
          <a:prstGeom prst="roundRect">
            <a:avLst>
              <a:gd name="adj" fmla="val 2974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71503" y="2555230"/>
            <a:ext cx="2000994" cy="38100"/>
          </a:xfrm>
          <a:prstGeom prst="roundRect">
            <a:avLst>
              <a:gd name="adj" fmla="val 34884"/>
            </a:avLst>
          </a:prstGeom>
          <a:solidFill>
            <a:srgbClr val="2150FE"/>
          </a:solidFill>
          <a:ln/>
        </p:spPr>
      </p:sp>
      <p:sp>
        <p:nvSpPr>
          <p:cNvPr id="30" name="Shape 28"/>
          <p:cNvSpPr/>
          <p:nvPr/>
        </p:nvSpPr>
        <p:spPr>
          <a:xfrm>
            <a:off x="4439096" y="2431852"/>
            <a:ext cx="265807" cy="265807"/>
          </a:xfrm>
          <a:prstGeom prst="roundRect">
            <a:avLst>
              <a:gd name="adj" fmla="val 215006"/>
            </a:avLst>
          </a:prstGeom>
          <a:solidFill>
            <a:srgbClr val="2150FE"/>
          </a:solidFill>
          <a:ln/>
        </p:spPr>
      </p:sp>
      <p:sp>
        <p:nvSpPr>
          <p:cNvPr id="31" name="Text 29"/>
          <p:cNvSpPr/>
          <p:nvPr/>
        </p:nvSpPr>
        <p:spPr>
          <a:xfrm>
            <a:off x="4518868" y="2498303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69581" y="2786211"/>
            <a:ext cx="1107504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5. Split Train/Test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669581" y="2957810"/>
            <a:ext cx="1804839" cy="345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train_test_split(test_size=0.2, random_state=42, stratify=y) — split AVANT imputation/scaling.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627861" y="2564755"/>
            <a:ext cx="2000994" cy="1537395"/>
          </a:xfrm>
          <a:prstGeom prst="roundRect">
            <a:avLst>
              <a:gd name="adj" fmla="val 2974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627861" y="2555230"/>
            <a:ext cx="2000994" cy="38100"/>
          </a:xfrm>
          <a:prstGeom prst="roundRect">
            <a:avLst>
              <a:gd name="adj" fmla="val 34884"/>
            </a:avLst>
          </a:prstGeom>
          <a:solidFill>
            <a:srgbClr val="2150FE"/>
          </a:solidFill>
          <a:ln/>
        </p:spPr>
      </p:sp>
      <p:sp>
        <p:nvSpPr>
          <p:cNvPr id="36" name="Shape 34"/>
          <p:cNvSpPr/>
          <p:nvPr/>
        </p:nvSpPr>
        <p:spPr>
          <a:xfrm>
            <a:off x="6495455" y="2431852"/>
            <a:ext cx="265807" cy="265807"/>
          </a:xfrm>
          <a:prstGeom prst="roundRect">
            <a:avLst>
              <a:gd name="adj" fmla="val 215006"/>
            </a:avLst>
          </a:prstGeom>
          <a:solidFill>
            <a:srgbClr val="2150FE"/>
          </a:solidFill>
          <a:ln/>
        </p:spPr>
      </p:sp>
      <p:sp>
        <p:nvSpPr>
          <p:cNvPr id="37" name="Text 35"/>
          <p:cNvSpPr/>
          <p:nvPr/>
        </p:nvSpPr>
        <p:spPr>
          <a:xfrm>
            <a:off x="6575227" y="2498303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25939" y="2786211"/>
            <a:ext cx="1597372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6–7. Imputation &amp; Standardisation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725939" y="2957810"/>
            <a:ext cx="1804839" cy="1046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Les valeurs manquantes sont imputées par médiane sur le train set uniquement, puis appliquées au test set — jamais l'inverse, pour éviter toute fuite d'information.Le </a:t>
            </a:r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</a:t>
            </a:r>
            <a:pPr algn="l" indent="0" marL="0">
              <a:lnSpc>
                <a:spcPts val="900"/>
              </a:lnSpc>
              <a:buNone/>
            </a:pPr>
            <a:r>
              <a:rPr lang="en-US" sz="6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centre et réduit les données sur le train set, puis transforme le test set avec les mêmes paramètres — garantissant que le modèle ne voit jamais les données futures pendant l'entraînement.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1515145" y="4290417"/>
            <a:ext cx="6113711" cy="606326"/>
          </a:xfrm>
          <a:prstGeom prst="roundRect">
            <a:avLst>
              <a:gd name="adj" fmla="val 7540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15145" y="4280892"/>
            <a:ext cx="6113711" cy="38100"/>
          </a:xfrm>
          <a:prstGeom prst="roundRect">
            <a:avLst>
              <a:gd name="adj" fmla="val 34884"/>
            </a:avLst>
          </a:prstGeom>
          <a:solidFill>
            <a:srgbClr val="2150FE"/>
          </a:solidFill>
          <a:ln/>
        </p:spPr>
      </p:sp>
      <p:sp>
        <p:nvSpPr>
          <p:cNvPr id="42" name="Shape 40"/>
          <p:cNvSpPr/>
          <p:nvPr/>
        </p:nvSpPr>
        <p:spPr>
          <a:xfrm>
            <a:off x="4439096" y="4157514"/>
            <a:ext cx="265807" cy="265807"/>
          </a:xfrm>
          <a:prstGeom prst="roundRect">
            <a:avLst>
              <a:gd name="adj" fmla="val 215006"/>
            </a:avLst>
          </a:prstGeom>
          <a:solidFill>
            <a:srgbClr val="2150FE"/>
          </a:solidFill>
          <a:ln/>
        </p:spPr>
      </p:sp>
      <p:sp>
        <p:nvSpPr>
          <p:cNvPr id="43" name="Text 41"/>
          <p:cNvSpPr/>
          <p:nvPr/>
        </p:nvSpPr>
        <p:spPr>
          <a:xfrm>
            <a:off x="4518868" y="4223965"/>
            <a:ext cx="106263" cy="132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7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613222" y="4511873"/>
            <a:ext cx="1285726" cy="138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8–9. PCA &amp; Multicolinéarité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613222" y="4683472"/>
            <a:ext cx="5917555" cy="115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PCA → 95% variance (~10–15 composantes). VIF &gt;10 → action (corr |r|&gt;0.8).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6623" y="356146"/>
            <a:ext cx="2768873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Clustering — K-Means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3816623" y="91849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1) Objectif métier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3816623" y="1177975"/>
            <a:ext cx="2334816" cy="7887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Segmenter la base clients pour mieux comprendre les comportements d’achat, adapter les actions marketing et prioriser les efforts commerciaux selon la valeur et l’engagement de chaque groupe.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3816623" y="205323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2) Pourquoi K-Means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816623" y="2312715"/>
            <a:ext cx="2334816" cy="946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K-Means est adapté à une segmentation rapide, interprétable et scalable. L’algorithme fonctionne bien lorsque l’objectif est de regrouper des clients similaires à partir de variables comportementales et transactionnelles standardisées.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816623" y="3345731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3) Méthodologie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816623" y="3605213"/>
            <a:ext cx="2334816" cy="110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Les données sont préparées puis projetées dans un espace exploitable par clustering. La méthode du coude est utilisée pour tester plusieurs valeurs de K et identifier le point d’inflexion. Le choix retenu est K=4, compromis entre finesse d’analyse et lisibilité opérationnelle.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26324" y="918493"/>
            <a:ext cx="1384399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4) Segments identifiés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26324" y="1177975"/>
            <a:ext cx="2334816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Champions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: clients à forte valeur, très engagés et à fort potentiel de fidélisation.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Fidèles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: clients réguliers et stables, importants pour le revenu récurrent.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Potentiels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: clients prometteurs à activer via des campagnes ciblées.</a:t>
            </a:r>
            <a:endParaRPr lang="en-US" sz="850" dirty="0"/>
          </a:p>
          <a:p>
            <a:pPr algn="l" indent="0" marL="0">
              <a:lnSpc>
                <a:spcPts val="1200"/>
              </a:lnSpc>
              <a:buNone/>
            </a:pPr>
            <a:r>
              <a:rPr lang="en-US" sz="8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Dormants</a:t>
            </a:r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: clients peu actifs ou en recul, à relancer avec des actions de réactivation.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26324" y="2526506"/>
            <a:ext cx="227997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5) Visualisation et utilisation marketing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26324" y="2785988"/>
            <a:ext cx="2334816" cy="110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 projection PCA en 2D permet de visualiser la séparation des clusters et de vérifier leur cohérence. Ces segments servent ensuite à personnaliser les messages, prioriser les offres, ajuster la pression marketing et concevoir des parcours différenciés selon le profil client.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2070" y="342156"/>
            <a:ext cx="4970859" cy="66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Prédiction de la LTV : Random Forest Regressor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372070" y="1126257"/>
            <a:ext cx="4970859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Pour optimiser les stratégies marketing et le chiffre d'affaires, nous estimons la </a:t>
            </a:r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valeur vie client (LTV)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La formule simplifiée utilisée est :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LTV = MonetaryTotal × Frequency / (Recency+1)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372070" y="1523107"/>
            <a:ext cx="4970859" cy="752624"/>
          </a:xfrm>
          <a:prstGeom prst="roundRect">
            <a:avLst>
              <a:gd name="adj" fmla="val 9112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57783" y="1523107"/>
            <a:ext cx="57150" cy="75262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9" name="Text 5"/>
          <p:cNvSpPr/>
          <p:nvPr/>
        </p:nvSpPr>
        <p:spPr>
          <a:xfrm>
            <a:off x="535484" y="1643658"/>
            <a:ext cx="143433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Pourquoi Random Forest ?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35484" y="1857524"/>
            <a:ext cx="468689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 modèle est choisi pour sa robustesse aux données complexes, sa capacité à gérer les non-linéarités et sa résilience aux outliers, crucial pour une estimation précise de la LTV.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372070" y="2355428"/>
            <a:ext cx="4970859" cy="771674"/>
          </a:xfrm>
          <a:prstGeom prst="roundRect">
            <a:avLst>
              <a:gd name="adj" fmla="val 8887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7783" y="2355428"/>
            <a:ext cx="57150" cy="77167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3" name="Text 9"/>
          <p:cNvSpPr/>
          <p:nvPr/>
        </p:nvSpPr>
        <p:spPr>
          <a:xfrm>
            <a:off x="535484" y="2475979"/>
            <a:ext cx="154729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Hyperparamètres Optimisés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35484" y="2689845"/>
            <a:ext cx="4686895" cy="316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Optimisation via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GridSearchCV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sur des paramètres clés :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(nombre d'arbres),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(profondeur maximale) et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(taille minimale des feuilles).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2070" y="3206800"/>
            <a:ext cx="4970859" cy="752624"/>
          </a:xfrm>
          <a:prstGeom prst="roundRect">
            <a:avLst>
              <a:gd name="adj" fmla="val 9112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57783" y="3206800"/>
            <a:ext cx="57150" cy="752624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17" name="Text 13"/>
          <p:cNvSpPr/>
          <p:nvPr/>
        </p:nvSpPr>
        <p:spPr>
          <a:xfrm>
            <a:off x="535484" y="3327350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Métriques d'Évaluation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35484" y="3541216"/>
            <a:ext cx="4686895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Évalué par </a:t>
            </a:r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MAE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(erreur absolue moyenne), </a:t>
            </a:r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RMSE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(erreur quadratique moyenne) et </a:t>
            </a:r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R²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(coefficient de détermination), permettant de quantifier l'exactitude et la pertinence du modèle.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72070" y="4039121"/>
            <a:ext cx="4970859" cy="762149"/>
          </a:xfrm>
          <a:prstGeom prst="roundRect">
            <a:avLst>
              <a:gd name="adj" fmla="val 8998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57783" y="4039121"/>
            <a:ext cx="57150" cy="762149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</p:sp>
      <p:sp>
        <p:nvSpPr>
          <p:cNvPr id="21" name="Text 17"/>
          <p:cNvSpPr/>
          <p:nvPr/>
        </p:nvSpPr>
        <p:spPr>
          <a:xfrm>
            <a:off x="535484" y="4159672"/>
            <a:ext cx="135024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Importance des Features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35484" y="4373538"/>
            <a:ext cx="4686895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Analyse pour identifier les variables les plus influentes sur la LTV, comme le montant dépensé (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MonetaryTotal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) et la fréquence d'achat (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Frequency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), guidant ainsi les actions marketing ciblées.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2070" y="343198"/>
            <a:ext cx="3873624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Modélisation : Prédiction du Churn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372070" y="795040"/>
            <a:ext cx="497085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Objectif métier :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Notre but principal est d'identifier les clients à risque de désabonnement (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churn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) afin de mettre en place des actions marketing et de rétention ciblées.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372070" y="1212279"/>
            <a:ext cx="1868686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Pourquoi le Random Forest ?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372070" y="1531144"/>
            <a:ext cx="4970859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Nous avons choisi le </a:t>
            </a:r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Random Forest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pour sa robustesse et sa capacité à gérer efficacement des jeux de données complexes. Il excelle avec un mélange de caractéristiques numériques et catégorielles, réduit le surapprentissage et permet d'évaluer l'importance de chaque feature dans la prédiction.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72070" y="2097212"/>
            <a:ext cx="2215530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Hyperparamètres &amp; Optimisation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72070" y="2416076"/>
            <a:ext cx="4970859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Les hyperparamètres clés optimisés via </a:t>
            </a:r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GridSearchCV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(recherche exhaustive sur une grille prédéfinie) incluent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(nombre d'arbres),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(profondeur maximale des arbres),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(nombre minimum d'échantillons requis pour être un nœud feuille) et 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(pour gérer le déséquilibre des classes de churn).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72070" y="3150022"/>
            <a:ext cx="2225799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Métrique d'évaluation : ROC-AUC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72070" y="3468886"/>
            <a:ext cx="497085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 métrique principale est l'</a:t>
            </a:r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AUC (Area Under the Receiver Operating Characteristic Curve)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Elle est choisie pour sa capacité à évaluer la performance du classifieur indépendamment du seuil de classification, et pour sa robustesse face aux classes déséquilibrées (le churn est souvent un événement rare).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72070" y="4183782"/>
            <a:ext cx="1934394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Comparaison avec la baseline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72070" y="4502646"/>
            <a:ext cx="497085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 modèle Random Forest est comparé à une </a:t>
            </a:r>
            <a:pPr algn="l" indent="0" marL="0">
              <a:lnSpc>
                <a:spcPts val="1150"/>
              </a:lnSpc>
              <a:buNone/>
            </a:pPr>
            <a:r>
              <a:rPr lang="en-US" sz="8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régression logistique</a:t>
            </a:r>
            <a:pPr algn="l" indent="0" marL="0">
              <a:lnSpc>
                <a:spcPts val="115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simple, servant de baseline. Cette comparaison permet de quantifier l'amélioration apportée par un modèle plus sophistiqué.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808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Résultats &amp; évaluation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74589"/>
            <a:ext cx="1143595" cy="1143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7953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Classification (Churn)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101876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ROC‑AUC ≈ 0.80–0.85 • Accuracy / Precision / Recall / F1 • Matrice de confusion • Courbe ROC. Si &gt;0.90 → inspecter fuite de données.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1474589"/>
            <a:ext cx="1143595" cy="11435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2433" y="27953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Régression (LTV)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72433" y="3101876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R² ≈ 0.65–0.80 • MAE interprétable en € • Scatter réel vs prédit.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1474589"/>
            <a:ext cx="1143595" cy="11435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8747" y="279536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Clustering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8747" y="3101876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 segments identifiés • Visualisation PCA 2D colorée • Utilisation pour campagnes segmentées.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4168601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Feature importance : top 15 (Recency, Frequency, Monetary souvent en tête — cohérence métier).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2280"/>
            <a:ext cx="495210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Déploiement — Application Flask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34480"/>
            <a:ext cx="3053135" cy="17300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9892" y="15396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Architecture &amp; routes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899892" y="1902842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/ → interface • /predict → API JSON retournant probabilité + risque • /health → santé • /features → spécification.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99892" y="2498229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Pipeline en production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899892" y="2861444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Les entrées subissent le même prétraitement (imputation → encodage → scaling). Gestion des catégories inconnues et des valeurs manquantes.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99892" y="345683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Sécurité &amp; robustesse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899892" y="3820046"/>
            <a:ext cx="475267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Validation d'entrée, contrôles contre données inattendues, logging et tests unitaires.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3961"/>
            <a:ext cx="450324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Bonnes pratiques &amp; leçons clés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20466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9622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Anti‑Data‑Leakage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268736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Split AVANT imputation/scaling — règle d'or.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820466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3402360" y="19622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Reproductibilité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2360" y="2268736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random_state=42 • environnement virtuel • requirements.txt.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820466"/>
            <a:ext cx="2622724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166842" y="196222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Versioning &amp; séparation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66842" y="2268736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Git/GitHub • src/ pour production • notebooks/ pour prototypage.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005882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77" y="31476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Évaluation adaptée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7877" y="3454152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ROC‑AUC pour churn déséquilibré • métriques claires pour régression et clustering.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3005882"/>
            <a:ext cx="4004965" cy="1043657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4784601" y="31476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Interprétabilité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84601" y="3454152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Feature importance, VIF, corrélations, SHAP (perspectives).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07839"/>
            <a:ext cx="388106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Conclusion &amp; perspectives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463427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Résumé : pipeline complet du raw au déploiement. Compétences : EDA, preprocessing avancé, clustering/classification/régression, déploiement web.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303338"/>
            <a:ext cx="567035" cy="1270471"/>
          </a:xfrm>
          <a:prstGeom prst="roundRect">
            <a:avLst>
              <a:gd name="adj" fmla="val 360022"/>
            </a:avLst>
          </a:prstGeom>
          <a:solidFill>
            <a:srgbClr val="F2EEE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3298" y="2832199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4913" y="244509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Points forts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204913" y="2751609"/>
            <a:ext cx="401396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Rigueur du preprocessing (80% d'impact) • Justification méthodologique • Réponse à enjeux métier (marketing, churn, LTV).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96119" y="3733279"/>
            <a:ext cx="4722763" cy="602382"/>
          </a:xfrm>
          <a:prstGeom prst="roundRect">
            <a:avLst>
              <a:gd name="adj" fmla="val 3530"/>
            </a:avLst>
          </a:prstGeom>
          <a:solidFill>
            <a:srgbClr val="B3C3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3938811"/>
            <a:ext cx="177180" cy="1417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6816" y="3910459"/>
            <a:ext cx="4120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Merci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2026-05-06T18:52:22Z</dcterms:created>
  <dcterms:modified xsi:type="dcterms:W3CDTF">2026-05-06T18:52:22Z</dcterms:modified>
</cp:coreProperties>
</file>